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</p:sldMasterIdLst>
  <p:sldIdLst>
    <p:sldId id="256" r:id="rId25"/>
    <p:sldId id="257" r:id="rId26"/>
    <p:sldId id="258" r:id="rId27"/>
    <p:sldId id="259" r:id="rId28"/>
    <p:sldId id="260" r:id="rId29"/>
    <p:sldId id="261" r:id="rId3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Z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Z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ZA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ZA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833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66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2666880" y="1371600"/>
            <a:ext cx="4036320" cy="13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799"/>
              </a:spcBef>
            </a:pPr>
            <a:r>
              <a:rPr lang="en-ZA" sz="1600" b="1" strike="noStrike" spc="-1">
                <a:solidFill>
                  <a:srgbClr val="FFFFFF"/>
                </a:solidFill>
                <a:latin typeface="Arial"/>
                <a:ea typeface="DejaVu Sans"/>
              </a:rPr>
              <a:t>UNIVERSITY OF PRETORIA</a:t>
            </a:r>
            <a:endParaRPr lang="en-ZA" sz="16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751"/>
              </a:spcBef>
            </a:pPr>
            <a:r>
              <a:rPr lang="en-ZA" sz="1500" b="1" strike="noStrike" spc="-1">
                <a:solidFill>
                  <a:srgbClr val="FFFFFF"/>
                </a:solidFill>
                <a:latin typeface="Arial"/>
                <a:ea typeface="DejaVu Sans"/>
              </a:rPr>
              <a:t>Presentation to the Board of Directors</a:t>
            </a:r>
            <a:endParaRPr lang="en-ZA" sz="15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751"/>
              </a:spcBef>
            </a:pPr>
            <a:r>
              <a:rPr lang="en-ZA" sz="1500" b="1" strike="noStrike" spc="-1">
                <a:solidFill>
                  <a:srgbClr val="FFFFFF"/>
                </a:solidFill>
                <a:latin typeface="Arial"/>
                <a:ea typeface="DejaVu Sans"/>
              </a:rPr>
              <a:t>International Studies</a:t>
            </a:r>
            <a:endParaRPr lang="en-ZA" sz="15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751"/>
              </a:spcBef>
            </a:pPr>
            <a:fld id="{83A9DB70-35C4-4AD9-96D0-CE4EA05C621F}" type="datetime3">
              <a:rPr lang="en-ZA" sz="1500" b="1" strike="noStrike" spc="-1">
                <a:solidFill>
                  <a:srgbClr val="FFFFFF"/>
                </a:solidFill>
                <a:latin typeface="Arial"/>
                <a:ea typeface="DejaVu Sans"/>
              </a:rPr>
              <a:t>29 April 2026</a:t>
            </a:fld>
            <a:endParaRPr lang="en-ZA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12"/>
          <p:cNvPicPr/>
          <p:nvPr/>
        </p:nvPicPr>
        <p:blipFill>
          <a:blip r:embed="rId2"/>
          <a:stretch/>
        </p:blipFill>
        <p:spPr>
          <a:xfrm>
            <a:off x="0" y="0"/>
            <a:ext cx="9141840" cy="612720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13"/>
          <p:cNvPicPr/>
          <p:nvPr/>
        </p:nvPicPr>
        <p:blipFill>
          <a:blip r:embed="rId3"/>
          <a:stretch/>
        </p:blipFill>
        <p:spPr>
          <a:xfrm>
            <a:off x="152280" y="6159600"/>
            <a:ext cx="2131560" cy="696240"/>
          </a:xfrm>
          <a:prstGeom prst="rect">
            <a:avLst/>
          </a:prstGeom>
          <a:ln w="0">
            <a:noFill/>
          </a:ln>
        </p:spPr>
      </p:pic>
      <p:sp>
        <p:nvSpPr>
          <p:cNvPr id="119" name="CustomShape 2"/>
          <p:cNvSpPr/>
          <p:nvPr/>
        </p:nvSpPr>
        <p:spPr>
          <a:xfrm>
            <a:off x="0" y="1103400"/>
            <a:ext cx="9141840" cy="32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EAI 320 </a:t>
            </a:r>
            <a:br>
              <a:rPr sz="1800" dirty="0"/>
            </a:b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Practical session 4</a:t>
            </a:r>
            <a:endParaRPr lang="en-ZA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lang="en-ZA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Presented: </a:t>
            </a:r>
            <a:r>
              <a:rPr lang="en-ZA" sz="3200" b="1" spc="-1" dirty="0">
                <a:solidFill>
                  <a:srgbClr val="FFFFFF"/>
                </a:solidFill>
                <a:latin typeface="Agency FB"/>
                <a:ea typeface="DejaVu Sans"/>
              </a:rPr>
              <a:t>6</a:t>
            </a: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 May 202</a:t>
            </a:r>
            <a:r>
              <a:rPr lang="en-ZA" sz="3200" b="1" spc="-1" dirty="0">
                <a:solidFill>
                  <a:srgbClr val="FFFFFF"/>
                </a:solidFill>
                <a:latin typeface="Agency FB"/>
                <a:ea typeface="DejaVu Sans"/>
              </a:rPr>
              <a:t>6</a:t>
            </a:r>
            <a:endParaRPr lang="en-ZA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Due: </a:t>
            </a:r>
            <a:r>
              <a:rPr lang="en-ZA" sz="3200" b="1" spc="-1" dirty="0">
                <a:solidFill>
                  <a:srgbClr val="FFFFFF"/>
                </a:solidFill>
                <a:latin typeface="Agency FB"/>
                <a:ea typeface="DejaVu Sans"/>
              </a:rPr>
              <a:t>19</a:t>
            </a:r>
            <a:r>
              <a:rPr lang="en-ZA" sz="3200" b="1" strike="noStrike" spc="-1" dirty="0">
                <a:solidFill>
                  <a:srgbClr val="FFFFFF"/>
                </a:solidFill>
                <a:latin typeface="Agency FB"/>
                <a:ea typeface="DejaVu Sans"/>
              </a:rPr>
              <a:t> May 2026</a:t>
            </a:r>
            <a:endParaRPr lang="en-ZA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lang="en-ZA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"/>
          <p:cNvPicPr/>
          <p:nvPr/>
        </p:nvPicPr>
        <p:blipFill>
          <a:blip r:embed="rId2"/>
          <a:stretch/>
        </p:blipFill>
        <p:spPr>
          <a:xfrm>
            <a:off x="0" y="0"/>
            <a:ext cx="9141840" cy="6184440"/>
          </a:xfrm>
          <a:prstGeom prst="rect">
            <a:avLst/>
          </a:prstGeom>
          <a:ln w="0">
            <a:noFill/>
          </a:ln>
        </p:spPr>
      </p:pic>
      <p:sp>
        <p:nvSpPr>
          <p:cNvPr id="121" name="CustomShape 3"/>
          <p:cNvSpPr/>
          <p:nvPr/>
        </p:nvSpPr>
        <p:spPr>
          <a:xfrm>
            <a:off x="685800" y="228600"/>
            <a:ext cx="655092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2100" b="1" strike="noStrike" spc="-1">
                <a:solidFill>
                  <a:srgbClr val="00308E"/>
                </a:solidFill>
                <a:latin typeface="Arial"/>
                <a:ea typeface="DejaVu Sans"/>
              </a:rPr>
              <a:t>Instructions</a:t>
            </a:r>
            <a:endParaRPr lang="en-ZA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CustomShape 4"/>
          <p:cNvSpPr/>
          <p:nvPr/>
        </p:nvSpPr>
        <p:spPr>
          <a:xfrm>
            <a:off x="7010280" y="6248520"/>
            <a:ext cx="1826640" cy="37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D5451BD2-71C7-4CAD-925D-3BFF531FA953}" type="slidenum">
              <a:rPr lang="en-ZA" sz="1200" b="1" strike="noStrike" spc="-1">
                <a:solidFill>
                  <a:srgbClr val="005BAB"/>
                </a:solidFill>
                <a:latin typeface="Verdana"/>
                <a:ea typeface="DejaVu Sans"/>
              </a:rPr>
              <a:t>2</a:t>
            </a:fld>
            <a:endParaRPr lang="en-Z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20000" y="1260000"/>
            <a:ext cx="8197560" cy="289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Goal: Implement a naive Bayes classifier, </a:t>
            </a:r>
            <a:r>
              <a:rPr lang="en-ZA" sz="1800" b="1" strike="noStrike" spc="-1" dirty="0">
                <a:solidFill>
                  <a:srgbClr val="1D09C7"/>
                </a:solidFill>
                <a:latin typeface="Arial"/>
              </a:rPr>
              <a:t>individually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Use the same RPS framework as previous </a:t>
            </a:r>
            <a:r>
              <a:rPr lang="en-ZA" sz="1800" b="0" strike="noStrike" spc="-1" dirty="0" err="1">
                <a:solidFill>
                  <a:srgbClr val="1D09C7"/>
                </a:solidFill>
                <a:latin typeface="Arial"/>
              </a:rPr>
              <a:t>practicals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MATLAB Grader is used for grading your naive Bayes classifier performance.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Comment the fundamental principles of the naive Bayes classifier in the code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file. It should be a single paragraph describing how the classifier works and 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why it works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There is </a:t>
            </a:r>
            <a:r>
              <a:rPr lang="en-ZA" sz="1800" b="1" strike="noStrike" spc="-1" dirty="0">
                <a:solidFill>
                  <a:srgbClr val="1D09C7"/>
                </a:solidFill>
                <a:latin typeface="Arial"/>
              </a:rPr>
              <a:t>no report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 for this practical.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Submit your </a:t>
            </a:r>
            <a:r>
              <a:rPr lang="en-ZA" sz="1800" b="1" strike="noStrike" spc="-1" dirty="0">
                <a:solidFill>
                  <a:srgbClr val="1D09C7"/>
                </a:solidFill>
                <a:latin typeface="Arial"/>
              </a:rPr>
              <a:t>code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 to the MATLAB Grader, </a:t>
            </a:r>
            <a:r>
              <a:rPr lang="en-ZA" sz="1800" b="0" strike="noStrike" spc="-1" dirty="0" err="1">
                <a:solidFill>
                  <a:srgbClr val="1D09C7"/>
                </a:solidFill>
                <a:latin typeface="Arial"/>
              </a:rPr>
              <a:t>TurnItIn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 (PDF format),</a:t>
            </a:r>
            <a:br>
              <a:rPr sz="1800" dirty="0"/>
            </a:b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and AMS (.m).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Submit before </a:t>
            </a:r>
            <a:r>
              <a:rPr lang="en-ZA" spc="-1" dirty="0">
                <a:solidFill>
                  <a:srgbClr val="1D09C7"/>
                </a:solidFill>
                <a:latin typeface="Arial"/>
              </a:rPr>
              <a:t>19</a:t>
            </a:r>
            <a:r>
              <a:rPr lang="en-ZA" sz="1800" b="0" strike="noStrike" spc="-1" dirty="0">
                <a:solidFill>
                  <a:srgbClr val="1D09C7"/>
                </a:solidFill>
                <a:latin typeface="Arial"/>
              </a:rPr>
              <a:t> May 2026, 23:59.</a:t>
            </a:r>
            <a:endParaRPr lang="en-ZA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/>
          <p:cNvPicPr/>
          <p:nvPr/>
        </p:nvPicPr>
        <p:blipFill>
          <a:blip r:embed="rId2"/>
          <a:stretch/>
        </p:blipFill>
        <p:spPr>
          <a:xfrm>
            <a:off x="0" y="0"/>
            <a:ext cx="9141840" cy="6184440"/>
          </a:xfrm>
          <a:prstGeom prst="rect">
            <a:avLst/>
          </a:prstGeom>
          <a:ln w="0">
            <a:noFill/>
          </a:ln>
        </p:spPr>
      </p:pic>
      <p:sp>
        <p:nvSpPr>
          <p:cNvPr id="125" name="CustomShape 5"/>
          <p:cNvSpPr/>
          <p:nvPr/>
        </p:nvSpPr>
        <p:spPr>
          <a:xfrm>
            <a:off x="685800" y="228600"/>
            <a:ext cx="655092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2100" b="1" strike="noStrike" spc="-1">
                <a:solidFill>
                  <a:srgbClr val="00308E"/>
                </a:solidFill>
                <a:latin typeface="Arial"/>
                <a:ea typeface="DejaVu Sans"/>
              </a:rPr>
              <a:t>Introduction</a:t>
            </a:r>
            <a:endParaRPr lang="en-ZA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6"/>
          <p:cNvSpPr/>
          <p:nvPr/>
        </p:nvSpPr>
        <p:spPr>
          <a:xfrm>
            <a:off x="7010280" y="6248520"/>
            <a:ext cx="1826640" cy="37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123D634E-BD53-488A-A054-E8F48A479B05}" type="slidenum">
              <a:rPr lang="en-ZA" sz="1200" b="1" strike="noStrike" spc="-1">
                <a:solidFill>
                  <a:srgbClr val="005BAB"/>
                </a:solidFill>
                <a:latin typeface="Verdana"/>
                <a:ea typeface="DejaVu Sans"/>
              </a:rPr>
              <a:t>3</a:t>
            </a:fld>
            <a:endParaRPr lang="en-Z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720000" y="1260000"/>
            <a:ext cx="8260200" cy="279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Naive Bayes is a probabilistic classification algorithm that predicts the class of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an object.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Your naive Bayes classifier must learn ‘online’, i.e. each passing move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contributes to the ‘knowledge’ of your agent.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Your naive Bayes classifier must construct a conditional probability table for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a history of two moves to calculate the most probable next move of the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opponent and thus the correct response; [x</a:t>
            </a:r>
            <a:r>
              <a:rPr lang="en-ZA" sz="1800" b="0" strike="noStrike" spc="-1" baseline="-8000">
                <a:solidFill>
                  <a:srgbClr val="1D09C7"/>
                </a:solidFill>
                <a:latin typeface="Arial"/>
              </a:rPr>
              <a:t>t-2</a:t>
            </a: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, y</a:t>
            </a:r>
            <a:r>
              <a:rPr lang="en-ZA" sz="1800" b="0" strike="noStrike" spc="-1" baseline="-8000">
                <a:solidFill>
                  <a:srgbClr val="1D09C7"/>
                </a:solidFill>
                <a:latin typeface="Arial"/>
              </a:rPr>
              <a:t>t-2</a:t>
            </a: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, x</a:t>
            </a:r>
            <a:r>
              <a:rPr lang="en-ZA" sz="1800" b="0" strike="noStrike" spc="-1" baseline="-8000">
                <a:solidFill>
                  <a:srgbClr val="1D09C7"/>
                </a:solidFill>
                <a:latin typeface="Arial"/>
              </a:rPr>
              <a:t>t-1</a:t>
            </a: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, y</a:t>
            </a:r>
            <a:r>
              <a:rPr lang="en-ZA" sz="1800" b="0" strike="noStrike" spc="-1" baseline="-8000">
                <a:solidFill>
                  <a:srgbClr val="1D09C7"/>
                </a:solidFill>
                <a:latin typeface="Arial"/>
              </a:rPr>
              <a:t>t-1</a:t>
            </a: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], where x is your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agent’s play, and y is the opponent’s. An example is shown below.</a:t>
            </a:r>
            <a:br>
              <a:rPr sz="1800"/>
            </a:b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 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127"/>
          <p:cNvPicPr/>
          <p:nvPr/>
        </p:nvPicPr>
        <p:blipFill>
          <a:blip r:embed="rId3"/>
          <a:stretch/>
        </p:blipFill>
        <p:spPr>
          <a:xfrm>
            <a:off x="3240000" y="3903840"/>
            <a:ext cx="3082680" cy="203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4"/>
          <p:cNvPicPr/>
          <p:nvPr/>
        </p:nvPicPr>
        <p:blipFill>
          <a:blip r:embed="rId2"/>
          <a:stretch/>
        </p:blipFill>
        <p:spPr>
          <a:xfrm>
            <a:off x="0" y="0"/>
            <a:ext cx="9141840" cy="6184440"/>
          </a:xfrm>
          <a:prstGeom prst="rect">
            <a:avLst/>
          </a:prstGeom>
          <a:ln w="0">
            <a:noFill/>
          </a:ln>
        </p:spPr>
      </p:pic>
      <p:sp>
        <p:nvSpPr>
          <p:cNvPr id="130" name="CustomShape 9"/>
          <p:cNvSpPr/>
          <p:nvPr/>
        </p:nvSpPr>
        <p:spPr>
          <a:xfrm>
            <a:off x="685800" y="228600"/>
            <a:ext cx="655092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2100" b="1" strike="noStrike" spc="-1">
                <a:solidFill>
                  <a:srgbClr val="00308E"/>
                </a:solidFill>
                <a:latin typeface="Arial"/>
                <a:ea typeface="DejaVu Sans"/>
              </a:rPr>
              <a:t>Introduction</a:t>
            </a:r>
            <a:endParaRPr lang="en-ZA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CustomShape 10"/>
          <p:cNvSpPr/>
          <p:nvPr/>
        </p:nvSpPr>
        <p:spPr>
          <a:xfrm>
            <a:off x="7010280" y="6248520"/>
            <a:ext cx="1826640" cy="37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F165D967-675D-4902-9C4D-3F4F9B364361}" type="slidenum">
              <a:rPr lang="en-ZA" sz="1200" b="1" strike="noStrike" spc="-1">
                <a:solidFill>
                  <a:srgbClr val="005BAB"/>
                </a:solidFill>
                <a:latin typeface="Verdana"/>
                <a:ea typeface="DejaVu Sans"/>
              </a:rPr>
              <a:t>4</a:t>
            </a:fld>
            <a:endParaRPr lang="en-Z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20000" y="1260000"/>
            <a:ext cx="7702560" cy="11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The diagram below gives some context as to the structure of the table to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assist in calculation.</a:t>
            </a:r>
            <a:br>
              <a:rPr sz="1800"/>
            </a:b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 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3"/>
          <a:stretch/>
        </p:blipFill>
        <p:spPr>
          <a:xfrm>
            <a:off x="1080000" y="2283840"/>
            <a:ext cx="3082680" cy="2035800"/>
          </a:xfrm>
          <a:prstGeom prst="rect">
            <a:avLst/>
          </a:prstGeom>
          <a:ln w="0">
            <a:noFill/>
          </a:ln>
        </p:spPr>
      </p:pic>
      <p:sp>
        <p:nvSpPr>
          <p:cNvPr id="134" name="Straight Connector 133"/>
          <p:cNvSpPr/>
          <p:nvPr/>
        </p:nvSpPr>
        <p:spPr>
          <a:xfrm>
            <a:off x="4212000" y="2520000"/>
            <a:ext cx="360" cy="54000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4375080" y="2641680"/>
            <a:ext cx="102456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P(...| </a:t>
            </a:r>
            <a:r>
              <a:rPr lang="en-ZA" sz="1800" b="1" strike="noStrike" spc="-1">
                <a:solidFill>
                  <a:srgbClr val="000000"/>
                </a:solidFill>
                <a:latin typeface="Arial"/>
              </a:rPr>
              <a:t>R </a:t>
            </a: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36" name="Straight Connector 135"/>
          <p:cNvSpPr/>
          <p:nvPr/>
        </p:nvSpPr>
        <p:spPr>
          <a:xfrm>
            <a:off x="4231080" y="3168000"/>
            <a:ext cx="360" cy="54000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375080" y="3240000"/>
            <a:ext cx="10076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P(...| </a:t>
            </a:r>
            <a:r>
              <a:rPr lang="en-ZA" sz="1800" b="1" strike="noStrike" spc="-1">
                <a:solidFill>
                  <a:srgbClr val="000000"/>
                </a:solidFill>
                <a:latin typeface="Arial"/>
              </a:rPr>
              <a:t>P </a:t>
            </a: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38" name="Straight Connector 137"/>
          <p:cNvSpPr/>
          <p:nvPr/>
        </p:nvSpPr>
        <p:spPr>
          <a:xfrm>
            <a:off x="4231080" y="3780000"/>
            <a:ext cx="360" cy="54000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4375080" y="3816000"/>
            <a:ext cx="10108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P(...| </a:t>
            </a:r>
            <a:r>
              <a:rPr lang="en-ZA" sz="1800" b="1" strike="noStrike" spc="-1">
                <a:solidFill>
                  <a:srgbClr val="000000"/>
                </a:solidFill>
                <a:latin typeface="Arial"/>
              </a:rPr>
              <a:t>S </a:t>
            </a:r>
            <a:r>
              <a:rPr lang="en-ZA" sz="1800" b="0" strike="noStrike" spc="-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40" name="Straight Connector 139"/>
          <p:cNvSpPr/>
          <p:nvPr/>
        </p:nvSpPr>
        <p:spPr>
          <a:xfrm flipH="1" flipV="1">
            <a:off x="5220000" y="2880000"/>
            <a:ext cx="900000" cy="540000"/>
          </a:xfrm>
          <a:prstGeom prst="line">
            <a:avLst/>
          </a:prstGeom>
          <a:ln w="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Straight Connector 140"/>
          <p:cNvSpPr/>
          <p:nvPr/>
        </p:nvSpPr>
        <p:spPr>
          <a:xfrm flipH="1">
            <a:off x="5220360" y="3420360"/>
            <a:ext cx="900000" cy="360"/>
          </a:xfrm>
          <a:prstGeom prst="line">
            <a:avLst/>
          </a:prstGeom>
          <a:ln w="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Straight Connector 141"/>
          <p:cNvSpPr/>
          <p:nvPr/>
        </p:nvSpPr>
        <p:spPr>
          <a:xfrm flipH="1">
            <a:off x="5220000" y="3420360"/>
            <a:ext cx="900360" cy="539640"/>
          </a:xfrm>
          <a:prstGeom prst="line">
            <a:avLst/>
          </a:prstGeom>
          <a:ln w="0"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ZA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6120360" y="3177720"/>
            <a:ext cx="23490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Observed opponent’s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move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3"/>
          <p:cNvPicPr/>
          <p:nvPr/>
        </p:nvPicPr>
        <p:blipFill>
          <a:blip r:embed="rId2"/>
          <a:stretch/>
        </p:blipFill>
        <p:spPr>
          <a:xfrm>
            <a:off x="0" y="0"/>
            <a:ext cx="9141840" cy="6184440"/>
          </a:xfrm>
          <a:prstGeom prst="rect">
            <a:avLst/>
          </a:prstGeom>
          <a:ln w="0">
            <a:noFill/>
          </a:ln>
        </p:spPr>
      </p:pic>
      <p:sp>
        <p:nvSpPr>
          <p:cNvPr id="145" name="CustomShape 7"/>
          <p:cNvSpPr/>
          <p:nvPr/>
        </p:nvSpPr>
        <p:spPr>
          <a:xfrm>
            <a:off x="685800" y="228600"/>
            <a:ext cx="6550920" cy="11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2100" b="1" strike="noStrike" spc="-1">
                <a:solidFill>
                  <a:srgbClr val="00308E"/>
                </a:solidFill>
                <a:latin typeface="Arial"/>
                <a:ea typeface="DejaVu Sans"/>
              </a:rPr>
              <a:t>Introduction</a:t>
            </a:r>
            <a:endParaRPr lang="en-ZA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CustomShape 8"/>
          <p:cNvSpPr/>
          <p:nvPr/>
        </p:nvSpPr>
        <p:spPr>
          <a:xfrm>
            <a:off x="7010280" y="6248520"/>
            <a:ext cx="1826640" cy="37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CC616E19-6825-469E-BC2C-64DC1C9EA317}" type="slidenum">
              <a:rPr lang="en-ZA" sz="1200" b="1" strike="noStrike" spc="-1">
                <a:solidFill>
                  <a:srgbClr val="005BAB"/>
                </a:solidFill>
                <a:latin typeface="Verdana"/>
                <a:ea typeface="DejaVu Sans"/>
              </a:rPr>
              <a:t>5</a:t>
            </a:fld>
            <a:endParaRPr lang="en-Z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720000" y="1260000"/>
            <a:ext cx="8039160" cy="22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Section 12.6 in ‘Artificial Intelligence: A modern Approach (4</a:t>
            </a:r>
            <a:r>
              <a:rPr lang="en-ZA" sz="1800" b="0" strike="noStrike" spc="-1" baseline="33000">
                <a:solidFill>
                  <a:srgbClr val="1D09C7"/>
                </a:solidFill>
                <a:latin typeface="Arial"/>
              </a:rPr>
              <a:t>th</a:t>
            </a: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 ed.) describes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the Naive Bayes principle.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Recall that the normalisation in Eq. 12.21 in the textbook allows inference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based on current knowledge. You can utilise this to make a decision on the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object to play.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Note: Some conditional probabilities might evaluate to zero given certain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observations – this will cause problems when calculating the opponent’s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most probable move, and thus you have to artificially add observations.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5"/>
          <p:cNvPicPr/>
          <p:nvPr/>
        </p:nvPicPr>
        <p:blipFill>
          <a:blip r:embed="rId2"/>
          <a:stretch/>
        </p:blipFill>
        <p:spPr>
          <a:xfrm>
            <a:off x="0" y="0"/>
            <a:ext cx="9141840" cy="6184440"/>
          </a:xfrm>
          <a:prstGeom prst="rect">
            <a:avLst/>
          </a:prstGeom>
          <a:ln w="0">
            <a:noFill/>
          </a:ln>
        </p:spPr>
      </p:pic>
      <p:sp>
        <p:nvSpPr>
          <p:cNvPr id="149" name="CustomShape 12"/>
          <p:cNvSpPr/>
          <p:nvPr/>
        </p:nvSpPr>
        <p:spPr>
          <a:xfrm>
            <a:off x="7010280" y="6248520"/>
            <a:ext cx="1826640" cy="37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B0C4C927-FAA3-469C-AD49-9CBB3637BF90}" type="slidenum">
              <a:rPr lang="en-ZA" sz="1200" b="1" strike="noStrike" spc="-1">
                <a:solidFill>
                  <a:srgbClr val="005BAB"/>
                </a:solidFill>
                <a:latin typeface="Verdana"/>
                <a:ea typeface="DejaVu Sans"/>
              </a:rPr>
              <a:t>6</a:t>
            </a:fld>
            <a:endParaRPr lang="en-Z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2418120" y="3060000"/>
            <a:ext cx="460152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This is a simple practical, don’t over-think it.</a:t>
            </a:r>
            <a:br>
              <a:rPr sz="1800"/>
            </a:br>
            <a:r>
              <a:rPr lang="en-ZA" sz="1800" b="0" strike="noStrike" spc="-1">
                <a:solidFill>
                  <a:srgbClr val="1D09C7"/>
                </a:solidFill>
                <a:latin typeface="Arial"/>
              </a:rPr>
              <a:t>Good luck!</a:t>
            </a:r>
            <a:endParaRPr lang="en-Z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3004</TotalTime>
  <Words>384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24</vt:i4>
      </vt:variant>
      <vt:variant>
        <vt:lpstr>Slide Titles</vt:lpstr>
      </vt:variant>
      <vt:variant>
        <vt:i4>6</vt:i4>
      </vt:variant>
    </vt:vector>
  </HeadingPairs>
  <TitlesOfParts>
    <vt:vector size="35" baseType="lpstr">
      <vt:lpstr>Agency FB</vt:lpstr>
      <vt:lpstr>Arial</vt:lpstr>
      <vt:lpstr>Symbol</vt:lpstr>
      <vt:lpstr>Verdana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McCarthy 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stephan</dc:creator>
  <dc:description/>
  <cp:lastModifiedBy>Brent Bown</cp:lastModifiedBy>
  <cp:revision>254</cp:revision>
  <dcterms:created xsi:type="dcterms:W3CDTF">2006-11-21T09:03:46Z</dcterms:created>
  <dcterms:modified xsi:type="dcterms:W3CDTF">2026-04-29T07:56:55Z</dcterms:modified>
  <dc:language>en-ZA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3</vt:i4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